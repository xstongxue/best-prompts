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2667000"/>
            <a:ext cx="76200" cy="1143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4"/>
          <p:cNvSpPr/>
          <p:nvPr/>
        </p:nvSpPr>
        <p:spPr>
          <a:xfrm>
            <a:off x="1524000" y="2857500"/>
            <a:ext cx="15240000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u="none">
                <a:solidFill>
                  <a:srgbClr val="2C3E50"/>
                </a:solidFill>
                <a:latin typeface="Helvetica"/>
              </a:rPr>
              <a:t>基于深度学习与多传感器融合的
自动驾驶路径规划方法研究</a:t>
            </a:r>
          </a:p>
        </p:txBody>
      </p:sp>
      <p:sp>
        <p:nvSpPr>
          <p:cNvPr id="5" name="drawio2pptx:shape:5"/>
          <p:cNvSpPr/>
          <p:nvPr/>
        </p:nvSpPr>
        <p:spPr>
          <a:xfrm>
            <a:off x="7239000" y="4572000"/>
            <a:ext cx="381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u="none">
                <a:solidFill>
                  <a:srgbClr val="7F8C8D"/>
                </a:solidFill>
                <a:latin typeface="Helvetica"/>
              </a:rPr>
              <a:t>硕士学位论文答辩</a:t>
            </a:r>
          </a:p>
        </p:txBody>
      </p:sp>
      <p:sp>
        <p:nvSpPr>
          <p:cNvPr id="6" name="drawio2pptx:shape:6"/>
          <p:cNvSpPr/>
          <p:nvPr/>
        </p:nvSpPr>
        <p:spPr>
          <a:xfrm>
            <a:off x="7239000" y="5715000"/>
            <a:ext cx="38100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2C3E50"/>
                </a:solidFill>
                <a:latin typeface="Helvetica"/>
              </a:rPr>
              <a:t>答辩人：[答辩人]
导　师：[导师]
学　校：[学校]
日　期：[日期]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571500"/>
            <a:ext cx="6667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2C3E50"/>
                </a:solidFill>
                <a:latin typeface="Helvetica"/>
              </a:rPr>
              <a:t>1. 研究背景与意义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2382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714500"/>
            <a:ext cx="16002000" cy="266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2C3E50"/>
                </a:solidFill>
                <a:latin typeface="Helvetica"/>
              </a:rPr>
              <a:t>• 自动驾驶技术快速发展，路径规划是决策系统的核心环节，直接影响车辆的安全性与行驶效率。
• 复杂动态环境中存在动态障碍物、交通标志识别、多车协同等难点，对路径规划的实时性与鲁棒性提出更高要求。
• 现有方法在单一传感器依赖、局部最优解、避障精度等方面存在不足，多传感器融合与深度强化学习为改进提供了新思路。
• 本文围绕深度强化学习优化与多传感器信息融合两条主线，提出 D-RL-Path 与 Fusion-Path 方案，旨在提升路径规划的精度与适应性。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571500"/>
            <a:ext cx="5715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2C3E50"/>
                </a:solidFill>
                <a:latin typeface="Helvetica"/>
              </a:rPr>
              <a:t>2. 国内外研究现状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2382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714500"/>
            <a:ext cx="16002000" cy="2476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2C3E50"/>
                </a:solidFill>
                <a:latin typeface="Helvetica"/>
              </a:rPr>
              <a:t>• 路径规划发展：从基于模型的传统规划（A*、RRT）到基于数据驱动的深度学习与强化学习方法。
• 深度强化学习：DDPG、A3C 等算法在自动驾驶决策与路径规划中广泛应用，可学习复杂环境下的最优策略。
• 多传感器融合：激光雷达、摄像头、毫米波雷达等多源数据融合，提升感知鲁棒性与环境建模能力。
• 基准算法与数据集：DDPG、A3C 为常用基准；CARLA 等仿真平台为训练与评估提供支撑。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571500"/>
            <a:ext cx="6667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2C3E50"/>
                </a:solidFill>
                <a:latin typeface="Helvetica"/>
              </a:rPr>
              <a:t>3. 研究内容与方法总览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2382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714500"/>
            <a:ext cx="16002000" cy="266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2C3E50"/>
                </a:solidFill>
                <a:latin typeface="Helvetica"/>
              </a:rPr>
              <a:t>本文基于深度强化学习与多传感器融合技术，从算法优化与信息融合两个角度提出改进：
• 3.1 基于深度强化学习的路径规划优化（原第三章）：结合 DDPG 进行路径规划决策优化，在复杂动态环境中提高避障精度与规划效率，形成 D-RL-Path 算法。
• 3.2 基于多传感器信息融合的路径规划（原第四章）：提出 CNN-RNN 深度特征提取与强化学习优化，形成 Fusion-Path 网络，提升系统在复杂路况中的稳定性与精度。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476250"/>
            <a:ext cx="10477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3E50"/>
                </a:solidFill>
                <a:latin typeface="Helvetica"/>
              </a:rPr>
              <a:t>3.1 基于深度强化学习的路径规划优化（原第三章）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0477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333500"/>
            <a:ext cx="85725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2C3E50"/>
                </a:solidFill>
                <a:latin typeface="Helvetica"/>
              </a:rPr>
              <a:t>• 针对复杂动态环境中障碍物避让与局部最优解问题，提出基于 DDPG 的路径规划优化方法。
• 结合基于模型的轨迹预测与控制策略，利用深度强化学习优化路径规划决策，在 CARLA 仿真平台上验证有效性。
• 优化后的 D-RL-Path 算法在避障精度与路径规划效率上均有提升。</a:t>
            </a:r>
          </a:p>
        </p:txBody>
      </p:sp>
      <p:sp>
        <p:nvSpPr>
          <p:cNvPr id="6" name="drawio2pptx:shape:6"/>
          <p:cNvSpPr/>
          <p:nvPr/>
        </p:nvSpPr>
        <p:spPr>
          <a:xfrm>
            <a:off x="1143000" y="3048000"/>
            <a:ext cx="8001000" cy="323850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7F8C8D"/>
                </a:solidFill>
                <a:latin typeface="Helvetica"/>
              </a:rPr>
              <a:t>【此处插入图 3-2：深度强化学习优化的路径规划网络架构】</a:t>
            </a:r>
          </a:p>
        </p:txBody>
      </p:sp>
      <p:sp>
        <p:nvSpPr>
          <p:cNvPr id="7" name="drawio2pptx:shape:7"/>
          <p:cNvSpPr/>
          <p:nvPr/>
        </p:nvSpPr>
        <p:spPr>
          <a:xfrm>
            <a:off x="9525000" y="3048000"/>
            <a:ext cx="7620000" cy="323850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F8C8D"/>
                </a:solidFill>
                <a:latin typeface="Helvetica"/>
              </a:rPr>
              <a:t>【此处插入图 3-3：基于 DDPG 的路径规划优化模块】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476250"/>
            <a:ext cx="10477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3E50"/>
                </a:solidFill>
                <a:latin typeface="Helvetica"/>
              </a:rPr>
              <a:t>3.2 基于多传感器信息融合的路径规划（原第四章）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0477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333500"/>
            <a:ext cx="85725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2C3E50"/>
                </a:solidFill>
                <a:latin typeface="Helvetica"/>
              </a:rPr>
              <a:t>• 针对单一传感器依赖与融合算法不完善问题，提出基于 CNN 与 RNN 的深度特征提取模型。
• 结合强化学习优化多传感器融合的路径规划结果，提升系统在复杂路况中的稳定性与精度。
• 在多个复杂测试场景下验证 Fusion-Path 网络的高效性与可靠性。</a:t>
            </a:r>
          </a:p>
        </p:txBody>
      </p:sp>
      <p:sp>
        <p:nvSpPr>
          <p:cNvPr id="6" name="drawio2pptx:shape:6"/>
          <p:cNvSpPr/>
          <p:nvPr/>
        </p:nvSpPr>
        <p:spPr>
          <a:xfrm>
            <a:off x="1143000" y="3048000"/>
            <a:ext cx="8001000" cy="323850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7F8C8D"/>
                </a:solidFill>
                <a:latin typeface="Helvetica"/>
              </a:rPr>
              <a:t>【此处插入图 4-4：基于多传感器融合的路径规划网络架构】</a:t>
            </a:r>
          </a:p>
        </p:txBody>
      </p:sp>
      <p:sp>
        <p:nvSpPr>
          <p:cNvPr id="7" name="drawio2pptx:shape:7"/>
          <p:cNvSpPr/>
          <p:nvPr/>
        </p:nvSpPr>
        <p:spPr>
          <a:xfrm>
            <a:off x="9525000" y="3048000"/>
            <a:ext cx="7620000" cy="323850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F8C8D"/>
                </a:solidFill>
                <a:latin typeface="Helvetica"/>
              </a:rPr>
              <a:t>【此处插入图 4-3：CNN-RNN 融合模块】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571500"/>
            <a:ext cx="6667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2C3E50"/>
                </a:solidFill>
                <a:latin typeface="Helvetica"/>
              </a:rPr>
              <a:t>4. 实验结果（路径规划对比）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2382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714500"/>
            <a:ext cx="16002000" cy="495300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7F8C8D"/>
                </a:solidFill>
                <a:latin typeface="Helvetica"/>
              </a:rPr>
              <a:t>【此处插入表 4-2：自动驾驶路径规划对比实验结果】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571500"/>
            <a:ext cx="381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2C3E50"/>
                </a:solidFill>
                <a:latin typeface="Helvetica"/>
              </a:rPr>
              <a:t>5. 消融实验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2382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714500"/>
            <a:ext cx="16002000" cy="495300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7F8C8D"/>
                </a:solidFill>
                <a:latin typeface="Helvetica"/>
              </a:rPr>
              <a:t>【此处插入表 4-6：消融实验结果】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571500"/>
            <a:ext cx="4762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2C3E50"/>
                </a:solidFill>
                <a:latin typeface="Helvetica"/>
              </a:rPr>
              <a:t>6. 系统设计与实现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2382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714500"/>
            <a:ext cx="16002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2C3E50"/>
                </a:solidFill>
                <a:latin typeface="Helvetica"/>
              </a:rPr>
              <a:t>• 采用前后端分离架构：React 前端、TensorFlow 与 ROS 后端，完成路径计算与传感器数据处理。
• 功能模块：路径规划、地图构建、车辆控制、传感器数据接入、实时监控。
• 在 CARLA 仿真平台中进行系统测试与功能演示，具备工程应用价值。</a:t>
            </a:r>
          </a:p>
        </p:txBody>
      </p:sp>
      <p:sp>
        <p:nvSpPr>
          <p:cNvPr id="6" name="drawio2pptx:shape:6"/>
          <p:cNvSpPr/>
          <p:nvPr/>
        </p:nvSpPr>
        <p:spPr>
          <a:xfrm>
            <a:off x="1143000" y="3238500"/>
            <a:ext cx="16002000" cy="476250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7F8C8D"/>
                </a:solidFill>
                <a:latin typeface="Helvetica"/>
              </a:rPr>
              <a:t>【此处插入图 5-2：自动驾驶系统架构图】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762000"/>
            <a:ext cx="381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2C3E50"/>
                </a:solidFill>
                <a:latin typeface="Helvetica"/>
              </a:rPr>
              <a:t>7. 核心创新点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4287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1905000"/>
            <a:ext cx="16002000" cy="266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2C3E50"/>
                </a:solidFill>
                <a:latin typeface="Helvetica"/>
              </a:rPr>
              <a:t>1. 提出基于深度强化学习的路径规划优化算法（D-RL-Path），结合 DDPG 进行避障精度优化，提升路径规划的实时性与避障效率。
2. 提出基于多传感器信息融合的路径规划网络（Fusion-Path），结合 CNN-RNN 特征提取与强化学习优化，提升系统在复杂环境中的适应能力。
3. 构建适用于自动驾驶路径规划的 CARLA 仿真数据集，支持深度强化学习与多传感器融合模型的训练与测试。
4. 设计并实现基于深度学习的自动驾驶路径规划系统，完成路径规划、控制与实时监控功能，具备工程应用价值。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1143000" y="762000"/>
            <a:ext cx="4762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2C3E50"/>
                </a:solidFill>
                <a:latin typeface="Helvetica"/>
              </a:rPr>
              <a:t>8. 结论与展望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1143000" y="1428750"/>
            <a:ext cx="762000" cy="5715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5"/>
          <p:cNvSpPr/>
          <p:nvPr/>
        </p:nvSpPr>
        <p:spPr>
          <a:xfrm>
            <a:off x="1143000" y="2095500"/>
            <a:ext cx="16002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2C3E50"/>
                </a:solidFill>
                <a:latin typeface="Helvetica"/>
              </a:rPr>
              <a:t>结论：本文提出的 D-RL-Path 与 Fusion-Path 方法在路径规划优化与多传感器融合方面取得有效进展，实验验证了算法在复杂环境中的性能提升，系统具备工程应用价值。
展望：基于大规模数据集的训练、多传感器实时融合、实际路况下的路径规划与决策等方向有待进一步研究。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7239000" y="4000500"/>
            <a:ext cx="3810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u="none">
                <a:solidFill>
                  <a:srgbClr val="2C3E50"/>
                </a:solidFill>
                <a:latin typeface="Helvetica"/>
              </a:rPr>
              <a:t>致谢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5334000" y="4953000"/>
            <a:ext cx="762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7F8C8D"/>
                </a:solidFill>
                <a:latin typeface="Helvetica"/>
              </a:rPr>
              <a:t>感谢导师的悉心指导与各位老师的宝贵意见！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3"/>
          <p:cNvSpPr/>
          <p:nvPr/>
        </p:nvSpPr>
        <p:spPr>
          <a:xfrm>
            <a:off x="3429000" y="4000500"/>
            <a:ext cx="11430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u="none">
                <a:solidFill>
                  <a:srgbClr val="2C3E50"/>
                </a:solidFill>
                <a:latin typeface="Helvetica"/>
              </a:rPr>
              <a:t>请各位老师批评指正！</a:t>
            </a:r>
          </a:p>
        </p:txBody>
      </p:sp>
      <p:sp>
        <p:nvSpPr>
          <p:cNvPr id="4" name="drawio2pptx:shape:4"/>
          <p:cNvSpPr/>
          <p:nvPr/>
        </p:nvSpPr>
        <p:spPr>
          <a:xfrm>
            <a:off x="8191500" y="5334000"/>
            <a:ext cx="1905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u="none">
                <a:solidFill>
                  <a:srgbClr val="7F8C8D"/>
                </a:solidFill>
                <a:latin typeface="Helvetica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